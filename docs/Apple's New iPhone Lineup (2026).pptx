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EF433F-30DC-419C-A23F-B512E7E59874}">
  <a:tblStyle styleId="{45EF433F-30DC-419C-A23F-B512E7E5987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14.png"/><Relationship Id="rId6" Type="http://schemas.openxmlformats.org/officeDocument/2006/relationships/image" Target="../media/image21.png"/><Relationship Id="rId7"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txBox="1"/>
          <p:nvPr/>
        </p:nvSpPr>
        <p:spPr>
          <a:xfrm>
            <a:off x="2024713" y="3484215"/>
            <a:ext cx="8142423" cy="67047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4800" u="none" cap="none" strike="noStrike">
                <a:solidFill>
                  <a:srgbClr val="1D1D1F"/>
                </a:solidFill>
                <a:latin typeface="Arial"/>
                <a:ea typeface="Arial"/>
                <a:cs typeface="Arial"/>
                <a:sym typeface="Arial"/>
              </a:rPr>
              <a:t>Apple's 2026 iPhone Lineup</a:t>
            </a:r>
            <a:endParaRPr/>
          </a:p>
        </p:txBody>
      </p:sp>
      <p:sp>
        <p:nvSpPr>
          <p:cNvPr id="85" name="Google Shape;85;p13"/>
          <p:cNvSpPr txBox="1"/>
          <p:nvPr/>
        </p:nvSpPr>
        <p:spPr>
          <a:xfrm>
            <a:off x="2218580" y="4297560"/>
            <a:ext cx="7754689"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86868B"/>
                </a:solidFill>
                <a:latin typeface="Arial"/>
                <a:ea typeface="Arial"/>
                <a:cs typeface="Arial"/>
                <a:sym typeface="Arial"/>
              </a:rPr>
              <a:t>Redefining the Smartphone Experience</a:t>
            </a:r>
            <a:endParaRPr/>
          </a:p>
        </p:txBody>
      </p:sp>
      <p:sp>
        <p:nvSpPr>
          <p:cNvPr id="86" name="Google Shape;86;p13"/>
          <p:cNvSpPr txBox="1"/>
          <p:nvPr/>
        </p:nvSpPr>
        <p:spPr>
          <a:xfrm>
            <a:off x="1162050" y="6724650"/>
            <a:ext cx="9867900" cy="133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Welcome everyone. Today we are looking at Apple's highly anticipated 2026 smartphone lineup. This presentation will cover the newly released iPhone 17 series, outlining the distinct models, performance upgrades, and key innovations that set a new industry benchmark.</a:t>
            </a:r>
            <a:endParaRPr/>
          </a:p>
        </p:txBody>
      </p:sp>
      <p:sp>
        <p:nvSpPr>
          <p:cNvPr id="87" name="Google Shape;87;p13"/>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8" name="Google Shape;88;p13"/>
          <p:cNvPicPr preferRelativeResize="0"/>
          <p:nvPr/>
        </p:nvPicPr>
        <p:blipFill rotWithShape="1">
          <a:blip r:embed="rId3">
            <a:alphaModFix/>
          </a:blip>
          <a:srcRect b="0" l="0" r="0" t="0"/>
          <a:stretch/>
        </p:blipFill>
        <p:spPr>
          <a:xfrm>
            <a:off x="5772001" y="2245965"/>
            <a:ext cx="647700" cy="857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1809750" y="1925240"/>
            <a:ext cx="8572500" cy="3007518"/>
          </a:xfrm>
          <a:prstGeom prst="rect">
            <a:avLst/>
          </a:prstGeom>
          <a:noFill/>
          <a:ln>
            <a:noFill/>
          </a:ln>
        </p:spPr>
      </p:pic>
      <p:sp>
        <p:nvSpPr>
          <p:cNvPr id="95" name="Google Shape;95;p14"/>
          <p:cNvSpPr txBox="1"/>
          <p:nvPr/>
        </p:nvSpPr>
        <p:spPr>
          <a:xfrm>
            <a:off x="2095500" y="2401490"/>
            <a:ext cx="8001000" cy="476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300" u="none" cap="none" strike="noStrike">
                <a:solidFill>
                  <a:srgbClr val="1D1D1F"/>
                </a:solidFill>
                <a:latin typeface="Arial"/>
                <a:ea typeface="Arial"/>
                <a:cs typeface="Arial"/>
                <a:sym typeface="Arial"/>
              </a:rPr>
              <a:t>The 2026 Product Strategy</a:t>
            </a:r>
            <a:endParaRPr/>
          </a:p>
        </p:txBody>
      </p:sp>
      <p:sp>
        <p:nvSpPr>
          <p:cNvPr id="96" name="Google Shape;96;p14"/>
          <p:cNvSpPr txBox="1"/>
          <p:nvPr/>
        </p:nvSpPr>
        <p:spPr>
          <a:xfrm>
            <a:off x="2286000" y="3115865"/>
            <a:ext cx="7620000" cy="1340643"/>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1D1D1F"/>
                </a:solidFill>
                <a:latin typeface="Arial"/>
                <a:ea typeface="Arial"/>
                <a:cs typeface="Arial"/>
                <a:sym typeface="Arial"/>
              </a:rPr>
              <a:t>Apple has diversified its ecosystem to an unprecedented degree, offering five distinct models ranging from the entry-level 17e to the ultra-premium 17 Pro Max. The core strategy for 2026 is democratizing high-end features—bringing ProMotion and Apple Intelligence to every user.</a:t>
            </a:r>
            <a:endParaRPr/>
          </a:p>
        </p:txBody>
      </p:sp>
      <p:sp>
        <p:nvSpPr>
          <p:cNvPr id="97" name="Google Shape;97;p14"/>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Apple has shifted its strategy this year, expanding the lineup to 5 distinct models to ensure there is a perfect device for every user and price point. The goal is to bring premium computational features, like Apple Intelligence, down to the standard models without compromising the elite status of the Pro lineup.</a:t>
            </a:r>
            <a:endParaRPr/>
          </a:p>
        </p:txBody>
      </p:sp>
      <p:sp>
        <p:nvSpPr>
          <p:cNvPr id="98" name="Google Shape;98;p14"/>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15"/>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As you can see in this breakdown, the base models received huge upgrades with standard 256GB storage and 120Hz ProMotion displays. The Pro models continue to push boundaries with the new A19 Pro chip, advanced 48MP triple cameras, and refined titanium chassis.</a:t>
            </a:r>
            <a:endParaRPr/>
          </a:p>
        </p:txBody>
      </p:sp>
      <p:sp>
        <p:nvSpPr>
          <p:cNvPr id="104" name="Google Shape;104;p15"/>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5"/>
          <p:cNvSpPr/>
          <p:nvPr/>
        </p:nvSpPr>
        <p:spPr>
          <a:xfrm>
            <a:off x="571500" y="1833562"/>
            <a:ext cx="11049000" cy="4048125"/>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06" name="Google Shape;106;p15"/>
          <p:cNvGraphicFramePr/>
          <p:nvPr/>
        </p:nvGraphicFramePr>
        <p:xfrm>
          <a:off x="571500" y="1833562"/>
          <a:ext cx="3000000" cy="3000000"/>
        </p:xfrm>
        <a:graphic>
          <a:graphicData uri="http://schemas.openxmlformats.org/drawingml/2006/table">
            <a:tbl>
              <a:tblPr bandRow="1" firstRow="1">
                <a:noFill/>
                <a:tableStyleId>{45EF433F-30DC-419C-A23F-B512E7E59874}</a:tableStyleId>
              </a:tblPr>
              <a:tblGrid>
                <a:gridCol w="2397475"/>
                <a:gridCol w="2055750"/>
                <a:gridCol w="3067200"/>
                <a:gridCol w="3528575"/>
              </a:tblGrid>
              <a:tr h="674675">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Feature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iPhone 17e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iPhone 17 / Air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17 Pro / Pro Max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Display Size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6.1" OLED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6.3" ProMotion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6.3" / 6.9" ProMotion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Processor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A18 Chip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A19 (3nm)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A19 Pro (3nm)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Camera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Dual 12MP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Dual 48MP Fusion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Triple 48MP Pro System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Build Material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Aluminum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Aluminum / Titanium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Grade 5 Titanium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700">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Base Storage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07" name="Google Shape;107;p15"/>
          <p:cNvSpPr/>
          <p:nvPr/>
        </p:nvSpPr>
        <p:spPr>
          <a:xfrm>
            <a:off x="571500" y="2495550"/>
            <a:ext cx="239747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5"/>
          <p:cNvSpPr/>
          <p:nvPr/>
        </p:nvSpPr>
        <p:spPr>
          <a:xfrm>
            <a:off x="2968972" y="2495550"/>
            <a:ext cx="205576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5"/>
          <p:cNvSpPr/>
          <p:nvPr/>
        </p:nvSpPr>
        <p:spPr>
          <a:xfrm>
            <a:off x="5024735" y="2495550"/>
            <a:ext cx="3067198"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5"/>
          <p:cNvSpPr/>
          <p:nvPr/>
        </p:nvSpPr>
        <p:spPr>
          <a:xfrm>
            <a:off x="8091933" y="2495550"/>
            <a:ext cx="352856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5"/>
          <p:cNvSpPr/>
          <p:nvPr/>
        </p:nvSpPr>
        <p:spPr>
          <a:xfrm>
            <a:off x="571500" y="3171825"/>
            <a:ext cx="239747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5"/>
          <p:cNvSpPr/>
          <p:nvPr/>
        </p:nvSpPr>
        <p:spPr>
          <a:xfrm>
            <a:off x="2968972" y="3171825"/>
            <a:ext cx="205576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5"/>
          <p:cNvSpPr/>
          <p:nvPr/>
        </p:nvSpPr>
        <p:spPr>
          <a:xfrm>
            <a:off x="5024735" y="3171825"/>
            <a:ext cx="3067198"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8091933" y="3171825"/>
            <a:ext cx="352856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5"/>
          <p:cNvSpPr/>
          <p:nvPr/>
        </p:nvSpPr>
        <p:spPr>
          <a:xfrm>
            <a:off x="571500" y="3848100"/>
            <a:ext cx="239747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5"/>
          <p:cNvSpPr/>
          <p:nvPr/>
        </p:nvSpPr>
        <p:spPr>
          <a:xfrm>
            <a:off x="2968972" y="3848100"/>
            <a:ext cx="205576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5"/>
          <p:cNvSpPr/>
          <p:nvPr/>
        </p:nvSpPr>
        <p:spPr>
          <a:xfrm>
            <a:off x="5024735" y="3848100"/>
            <a:ext cx="3067198"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5"/>
          <p:cNvSpPr/>
          <p:nvPr/>
        </p:nvSpPr>
        <p:spPr>
          <a:xfrm>
            <a:off x="8091933" y="3848100"/>
            <a:ext cx="352856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p:nvPr/>
        </p:nvSpPr>
        <p:spPr>
          <a:xfrm>
            <a:off x="571500" y="4524375"/>
            <a:ext cx="239747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5"/>
          <p:cNvSpPr/>
          <p:nvPr/>
        </p:nvSpPr>
        <p:spPr>
          <a:xfrm>
            <a:off x="2968972" y="4524375"/>
            <a:ext cx="205576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p:nvPr/>
        </p:nvSpPr>
        <p:spPr>
          <a:xfrm>
            <a:off x="5024735" y="4524375"/>
            <a:ext cx="3067198"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5"/>
          <p:cNvSpPr/>
          <p:nvPr/>
        </p:nvSpPr>
        <p:spPr>
          <a:xfrm>
            <a:off x="8091933" y="4524375"/>
            <a:ext cx="352856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p:nvPr/>
        </p:nvSpPr>
        <p:spPr>
          <a:xfrm>
            <a:off x="571500" y="5200650"/>
            <a:ext cx="239747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5"/>
          <p:cNvSpPr/>
          <p:nvPr/>
        </p:nvSpPr>
        <p:spPr>
          <a:xfrm>
            <a:off x="2968972" y="5200650"/>
            <a:ext cx="2055762"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5"/>
          <p:cNvSpPr/>
          <p:nvPr/>
        </p:nvSpPr>
        <p:spPr>
          <a:xfrm>
            <a:off x="5024735" y="5200650"/>
            <a:ext cx="3067198"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5"/>
          <p:cNvSpPr/>
          <p:nvPr/>
        </p:nvSpPr>
        <p:spPr>
          <a:xfrm>
            <a:off x="8091933" y="5200650"/>
            <a:ext cx="352856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5"/>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Models Overview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pic>
        <p:nvPicPr>
          <p:cNvPr descr="image.png" id="132" name="Google Shape;132;p16"/>
          <p:cNvPicPr preferRelativeResize="0"/>
          <p:nvPr/>
        </p:nvPicPr>
        <p:blipFill rotWithShape="1">
          <a:blip r:embed="rId3">
            <a:alphaModFix/>
          </a:blip>
          <a:srcRect b="0" l="0" r="0" t="0"/>
          <a:stretch/>
        </p:blipFill>
        <p:spPr>
          <a:xfrm>
            <a:off x="571500" y="2085975"/>
            <a:ext cx="3492549" cy="3543300"/>
          </a:xfrm>
          <a:prstGeom prst="rect">
            <a:avLst/>
          </a:prstGeom>
          <a:noFill/>
          <a:ln>
            <a:noFill/>
          </a:ln>
        </p:spPr>
      </p:pic>
      <p:pic>
        <p:nvPicPr>
          <p:cNvPr descr="image.png" id="133" name="Google Shape;133;p16"/>
          <p:cNvPicPr preferRelativeResize="0"/>
          <p:nvPr/>
        </p:nvPicPr>
        <p:blipFill rotWithShape="1">
          <a:blip r:embed="rId4">
            <a:alphaModFix/>
          </a:blip>
          <a:srcRect b="0" l="0" r="0" t="0"/>
          <a:stretch/>
        </p:blipFill>
        <p:spPr>
          <a:xfrm>
            <a:off x="4349799" y="2085975"/>
            <a:ext cx="3492549" cy="3543300"/>
          </a:xfrm>
          <a:prstGeom prst="rect">
            <a:avLst/>
          </a:prstGeom>
          <a:noFill/>
          <a:ln>
            <a:noFill/>
          </a:ln>
        </p:spPr>
      </p:pic>
      <p:pic>
        <p:nvPicPr>
          <p:cNvPr descr="image.png" id="134" name="Google Shape;134;p16"/>
          <p:cNvPicPr preferRelativeResize="0"/>
          <p:nvPr/>
        </p:nvPicPr>
        <p:blipFill rotWithShape="1">
          <a:blip r:embed="rId5">
            <a:alphaModFix/>
          </a:blip>
          <a:srcRect b="0" l="0" r="0" t="0"/>
          <a:stretch/>
        </p:blipFill>
        <p:spPr>
          <a:xfrm>
            <a:off x="8128099" y="2085975"/>
            <a:ext cx="3492549" cy="3543300"/>
          </a:xfrm>
          <a:prstGeom prst="rect">
            <a:avLst/>
          </a:prstGeom>
          <a:noFill/>
          <a:ln>
            <a:noFill/>
          </a:ln>
        </p:spPr>
      </p:pic>
      <p:sp>
        <p:nvSpPr>
          <p:cNvPr id="135" name="Google Shape;135;p16"/>
          <p:cNvSpPr txBox="1"/>
          <p:nvPr/>
        </p:nvSpPr>
        <p:spPr>
          <a:xfrm>
            <a:off x="1162050" y="6032975"/>
            <a:ext cx="9867900" cy="48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The key theme this year is Apple Intelligence. With powerful Neural Engines, the devices process AI securely on-device. Coupled with the leap to Wi-Fi 7 and standard Always-On displays, the entire iPhone ecosystem is significantly smarter and more connected than ever before.</a:t>
            </a:r>
            <a:endParaRPr/>
          </a:p>
        </p:txBody>
      </p:sp>
      <p:sp>
        <p:nvSpPr>
          <p:cNvPr id="136" name="Google Shape;136;p16"/>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1169900" y="3228975"/>
            <a:ext cx="2295599"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1D1D1F"/>
                </a:solidFill>
                <a:latin typeface="Arial"/>
                <a:ea typeface="Arial"/>
                <a:cs typeface="Arial"/>
                <a:sym typeface="Arial"/>
              </a:rPr>
              <a:t>Apple Intelligence</a:t>
            </a:r>
            <a:endParaRPr/>
          </a:p>
        </p:txBody>
      </p:sp>
      <p:sp>
        <p:nvSpPr>
          <p:cNvPr id="138" name="Google Shape;138;p16"/>
          <p:cNvSpPr txBox="1"/>
          <p:nvPr/>
        </p:nvSpPr>
        <p:spPr>
          <a:xfrm>
            <a:off x="857250" y="3676650"/>
            <a:ext cx="2921049"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On-device AI powers smarter Siri conversations, automated email summaries, advanced photo editing, and seamless live language translation.</a:t>
            </a:r>
            <a:endParaRPr/>
          </a:p>
        </p:txBody>
      </p:sp>
      <p:sp>
        <p:nvSpPr>
          <p:cNvPr id="139" name="Google Shape;139;p16"/>
          <p:cNvSpPr txBox="1"/>
          <p:nvPr/>
        </p:nvSpPr>
        <p:spPr>
          <a:xfrm>
            <a:off x="4653315" y="3228975"/>
            <a:ext cx="2885516"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1D1D1F"/>
                </a:solidFill>
                <a:latin typeface="Arial"/>
                <a:ea typeface="Arial"/>
                <a:cs typeface="Arial"/>
                <a:sym typeface="Arial"/>
              </a:rPr>
              <a:t>Next-Gen Connectivity</a:t>
            </a:r>
            <a:endParaRPr/>
          </a:p>
        </p:txBody>
      </p:sp>
      <p:sp>
        <p:nvSpPr>
          <p:cNvPr id="140" name="Google Shape;140;p16"/>
          <p:cNvSpPr txBox="1"/>
          <p:nvPr/>
        </p:nvSpPr>
        <p:spPr>
          <a:xfrm>
            <a:off x="4635549" y="3676650"/>
            <a:ext cx="2921049"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Equipped with Wi-Fi 7, Bluetooth 6.0, and Apple's new proprietary C1X cellular modem for vastly superior speed and reliability.</a:t>
            </a:r>
            <a:endParaRPr/>
          </a:p>
        </p:txBody>
      </p:sp>
      <p:sp>
        <p:nvSpPr>
          <p:cNvPr id="141" name="Google Shape;141;p16"/>
          <p:cNvSpPr txBox="1"/>
          <p:nvPr/>
        </p:nvSpPr>
        <p:spPr>
          <a:xfrm>
            <a:off x="8791508" y="3228975"/>
            <a:ext cx="2165583"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1D1D1F"/>
                </a:solidFill>
                <a:latin typeface="Arial"/>
                <a:ea typeface="Arial"/>
                <a:cs typeface="Arial"/>
                <a:sym typeface="Arial"/>
              </a:rPr>
              <a:t>ProMotion for All</a:t>
            </a:r>
            <a:endParaRPr/>
          </a:p>
        </p:txBody>
      </p:sp>
      <p:sp>
        <p:nvSpPr>
          <p:cNvPr id="142" name="Google Shape;142;p16"/>
          <p:cNvSpPr txBox="1"/>
          <p:nvPr/>
        </p:nvSpPr>
        <p:spPr>
          <a:xfrm>
            <a:off x="8413849" y="3676650"/>
            <a:ext cx="2921049"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The 120Hz ProMotion technology and Always-On display are no longer exclusive to Pro models, delivering fluid scrolling universally.</a:t>
            </a:r>
            <a:endParaRPr/>
          </a:p>
        </p:txBody>
      </p:sp>
      <p:pic>
        <p:nvPicPr>
          <p:cNvPr descr="image.png" id="143" name="Google Shape;143;p16"/>
          <p:cNvPicPr preferRelativeResize="0"/>
          <p:nvPr/>
        </p:nvPicPr>
        <p:blipFill rotWithShape="1">
          <a:blip r:embed="rId6">
            <a:alphaModFix/>
          </a:blip>
          <a:srcRect b="0" l="0" r="0" t="0"/>
          <a:stretch/>
        </p:blipFill>
        <p:spPr>
          <a:xfrm>
            <a:off x="2089100" y="2486025"/>
            <a:ext cx="457200" cy="457200"/>
          </a:xfrm>
          <a:prstGeom prst="rect">
            <a:avLst/>
          </a:prstGeom>
          <a:noFill/>
          <a:ln>
            <a:noFill/>
          </a:ln>
        </p:spPr>
      </p:pic>
      <p:pic>
        <p:nvPicPr>
          <p:cNvPr descr="image.png" id="144" name="Google Shape;144;p16"/>
          <p:cNvPicPr preferRelativeResize="0"/>
          <p:nvPr/>
        </p:nvPicPr>
        <p:blipFill rotWithShape="1">
          <a:blip r:embed="rId7">
            <a:alphaModFix/>
          </a:blip>
          <a:srcRect b="0" l="0" r="0" t="0"/>
          <a:stretch/>
        </p:blipFill>
        <p:spPr>
          <a:xfrm>
            <a:off x="5810250" y="2486025"/>
            <a:ext cx="571500" cy="457200"/>
          </a:xfrm>
          <a:prstGeom prst="rect">
            <a:avLst/>
          </a:prstGeom>
          <a:noFill/>
          <a:ln>
            <a:noFill/>
          </a:ln>
        </p:spPr>
      </p:pic>
      <p:pic>
        <p:nvPicPr>
          <p:cNvPr descr="image.png" id="145" name="Google Shape;145;p16"/>
          <p:cNvPicPr preferRelativeResize="0"/>
          <p:nvPr/>
        </p:nvPicPr>
        <p:blipFill rotWithShape="1">
          <a:blip r:embed="rId8">
            <a:alphaModFix/>
          </a:blip>
          <a:srcRect b="0" l="0" r="0" t="0"/>
          <a:stretch/>
        </p:blipFill>
        <p:spPr>
          <a:xfrm>
            <a:off x="9702849" y="2486025"/>
            <a:ext cx="342900" cy="457200"/>
          </a:xfrm>
          <a:prstGeom prst="rect">
            <a:avLst/>
          </a:prstGeom>
          <a:noFill/>
          <a:ln>
            <a:noFill/>
          </a:ln>
        </p:spPr>
      </p:pic>
      <p:sp>
        <p:nvSpPr>
          <p:cNvPr id="146" name="Google Shape;146;p16"/>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Key Features &amp; Innovations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17"/>
          <p:cNvSpPr txBox="1"/>
          <p:nvPr/>
        </p:nvSpPr>
        <p:spPr>
          <a:xfrm>
            <a:off x="571500" y="571500"/>
            <a:ext cx="5550693"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Premium Design &amp; Build</a:t>
            </a:r>
            <a:endParaRPr/>
          </a:p>
        </p:txBody>
      </p:sp>
      <p:pic>
        <p:nvPicPr>
          <p:cNvPr descr="image.png" id="152" name="Google Shape;152;p17"/>
          <p:cNvPicPr preferRelativeResize="0"/>
          <p:nvPr/>
        </p:nvPicPr>
        <p:blipFill rotWithShape="1">
          <a:blip r:embed="rId3">
            <a:alphaModFix/>
          </a:blip>
          <a:srcRect b="0" l="0" r="0" t="0"/>
          <a:stretch/>
        </p:blipFill>
        <p:spPr>
          <a:xfrm>
            <a:off x="6334125" y="0"/>
            <a:ext cx="5857875" cy="6858000"/>
          </a:xfrm>
          <a:prstGeom prst="rect">
            <a:avLst/>
          </a:prstGeom>
          <a:noFill/>
          <a:ln>
            <a:noFill/>
          </a:ln>
        </p:spPr>
      </p:pic>
      <p:sp>
        <p:nvSpPr>
          <p:cNvPr id="153" name="Google Shape;153;p17"/>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Apple continues to refine its premium aesthetic. The standard models retain a robust aluminum frame, while the Pro series uses Titanium. A major internal change is the new vapor chamber cooling system, which ensures the phone stays cool during intensive gaming or video recording.</a:t>
            </a:r>
            <a:endParaRPr/>
          </a:p>
        </p:txBody>
      </p:sp>
      <p:sp>
        <p:nvSpPr>
          <p:cNvPr id="154" name="Google Shape;154;p17"/>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7"/>
          <p:cNvSpPr txBox="1"/>
          <p:nvPr/>
        </p:nvSpPr>
        <p:spPr>
          <a:xfrm>
            <a:off x="857250" y="2371725"/>
            <a:ext cx="500062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Ceramic Shield 2:</a:t>
            </a:r>
            <a:r>
              <a:rPr b="0" i="0" lang="en-US" sz="1500" u="none" cap="none" strike="noStrike">
                <a:solidFill>
                  <a:srgbClr val="515154"/>
                </a:solidFill>
                <a:latin typeface="Arial"/>
                <a:ea typeface="Arial"/>
                <a:cs typeface="Arial"/>
                <a:sym typeface="Arial"/>
              </a:rPr>
              <a:t> Formulated to be three times more scratch-resistant than previous generations.</a:t>
            </a:r>
            <a:endParaRPr/>
          </a:p>
        </p:txBody>
      </p:sp>
      <p:sp>
        <p:nvSpPr>
          <p:cNvPr id="156" name="Google Shape;156;p17"/>
          <p:cNvSpPr txBox="1"/>
          <p:nvPr/>
        </p:nvSpPr>
        <p:spPr>
          <a:xfrm>
            <a:off x="857250" y="3114675"/>
            <a:ext cx="500062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Titanium Precision:</a:t>
            </a:r>
            <a:r>
              <a:rPr b="0" i="0" lang="en-US" sz="1500" u="none" cap="none" strike="noStrike">
                <a:solidFill>
                  <a:srgbClr val="515154"/>
                </a:solidFill>
                <a:latin typeface="Arial"/>
                <a:ea typeface="Arial"/>
                <a:cs typeface="Arial"/>
                <a:sym typeface="Arial"/>
              </a:rPr>
              <a:t> The Pro models feature a refined Grade 5 Titanium frame for weight reduction.</a:t>
            </a:r>
            <a:endParaRPr/>
          </a:p>
        </p:txBody>
      </p:sp>
      <p:sp>
        <p:nvSpPr>
          <p:cNvPr id="157" name="Google Shape;157;p17"/>
          <p:cNvSpPr txBox="1"/>
          <p:nvPr/>
        </p:nvSpPr>
        <p:spPr>
          <a:xfrm>
            <a:off x="857250" y="3857625"/>
            <a:ext cx="500062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Advanced Cooling:</a:t>
            </a:r>
            <a:r>
              <a:rPr b="0" i="0" lang="en-US" sz="1500" u="none" cap="none" strike="noStrike">
                <a:solidFill>
                  <a:srgbClr val="515154"/>
                </a:solidFill>
                <a:latin typeface="Arial"/>
                <a:ea typeface="Arial"/>
                <a:cs typeface="Arial"/>
                <a:sym typeface="Arial"/>
              </a:rPr>
              <a:t> A new internal vapor chamber utilizing deionized water optimizes heat distribution.</a:t>
            </a:r>
            <a:endParaRPr/>
          </a:p>
        </p:txBody>
      </p:sp>
      <p:sp>
        <p:nvSpPr>
          <p:cNvPr id="158" name="Google Shape;158;p17"/>
          <p:cNvSpPr txBox="1"/>
          <p:nvPr/>
        </p:nvSpPr>
        <p:spPr>
          <a:xfrm>
            <a:off x="857250" y="4600575"/>
            <a:ext cx="500062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Camera Control:</a:t>
            </a:r>
            <a:r>
              <a:rPr b="0" i="0" lang="en-US" sz="1500" u="none" cap="none" strike="noStrike">
                <a:solidFill>
                  <a:srgbClr val="515154"/>
                </a:solidFill>
                <a:latin typeface="Arial"/>
                <a:ea typeface="Arial"/>
                <a:cs typeface="Arial"/>
                <a:sym typeface="Arial"/>
              </a:rPr>
              <a:t> A sleek, capacitive plateau design integrates seamless photography controls into the frame.</a:t>
            </a:r>
            <a:endParaRPr/>
          </a:p>
        </p:txBody>
      </p:sp>
      <p:sp>
        <p:nvSpPr>
          <p:cNvPr id="159" name="Google Shape;159;p17"/>
          <p:cNvSpPr txBox="1"/>
          <p:nvPr/>
        </p:nvSpPr>
        <p:spPr>
          <a:xfrm>
            <a:off x="571500" y="235267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60" name="Google Shape;160;p17"/>
          <p:cNvSpPr txBox="1"/>
          <p:nvPr/>
        </p:nvSpPr>
        <p:spPr>
          <a:xfrm>
            <a:off x="571500" y="309562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61" name="Google Shape;161;p17"/>
          <p:cNvSpPr txBox="1"/>
          <p:nvPr/>
        </p:nvSpPr>
        <p:spPr>
          <a:xfrm>
            <a:off x="571500" y="383857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62" name="Google Shape;162;p17"/>
          <p:cNvSpPr txBox="1"/>
          <p:nvPr/>
        </p:nvSpPr>
        <p:spPr>
          <a:xfrm>
            <a:off x="571500" y="458152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pic>
        <p:nvPicPr>
          <p:cNvPr descr="image.png" id="167" name="Google Shape;167;p18"/>
          <p:cNvPicPr preferRelativeResize="0"/>
          <p:nvPr/>
        </p:nvPicPr>
        <p:blipFill rotWithShape="1">
          <a:blip r:embed="rId3">
            <a:alphaModFix/>
          </a:blip>
          <a:srcRect b="0" l="0" r="0" t="0"/>
          <a:stretch/>
        </p:blipFill>
        <p:spPr>
          <a:xfrm>
            <a:off x="1381125" y="2047875"/>
            <a:ext cx="3619500" cy="3619500"/>
          </a:xfrm>
          <a:prstGeom prst="rect">
            <a:avLst/>
          </a:prstGeom>
          <a:noFill/>
          <a:ln>
            <a:noFill/>
          </a:ln>
        </p:spPr>
      </p:pic>
      <p:sp>
        <p:nvSpPr>
          <p:cNvPr id="168" name="Google Shape;168;p18"/>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Performance is driven by the 3nm A19 processor family. With increased Neural Accelerators, the phone handles AI tasks instantly without sending data to the cloud. Thanks to these efficiencies, users can experience up to 30 hours of battery life under active use.</a:t>
            </a:r>
            <a:endParaRPr/>
          </a:p>
        </p:txBody>
      </p:sp>
      <p:sp>
        <p:nvSpPr>
          <p:cNvPr id="169" name="Google Shape;169;p18"/>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8"/>
          <p:cNvSpPr txBox="1"/>
          <p:nvPr/>
        </p:nvSpPr>
        <p:spPr>
          <a:xfrm>
            <a:off x="6381750" y="2147887"/>
            <a:ext cx="550068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D1D1F"/>
                </a:solidFill>
                <a:latin typeface="Arial"/>
                <a:ea typeface="Arial"/>
                <a:cs typeface="Arial"/>
                <a:sym typeface="Arial"/>
              </a:rPr>
              <a:t>A19 Bionic Architecture</a:t>
            </a:r>
            <a:endParaRPr/>
          </a:p>
        </p:txBody>
      </p:sp>
      <p:pic>
        <p:nvPicPr>
          <p:cNvPr descr="image.png" id="171" name="Google Shape;171;p18"/>
          <p:cNvPicPr preferRelativeResize="0"/>
          <p:nvPr/>
        </p:nvPicPr>
        <p:blipFill rotWithShape="1">
          <a:blip r:embed="rId4">
            <a:alphaModFix/>
          </a:blip>
          <a:srcRect b="0" l="0" r="0" t="0"/>
          <a:stretch/>
        </p:blipFill>
        <p:spPr>
          <a:xfrm>
            <a:off x="1419225" y="2085975"/>
            <a:ext cx="3543300" cy="3543300"/>
          </a:xfrm>
          <a:prstGeom prst="rect">
            <a:avLst/>
          </a:prstGeom>
          <a:noFill/>
          <a:ln>
            <a:noFill/>
          </a:ln>
        </p:spPr>
      </p:pic>
      <p:sp>
        <p:nvSpPr>
          <p:cNvPr id="172" name="Google Shape;172;p18"/>
          <p:cNvSpPr txBox="1"/>
          <p:nvPr/>
        </p:nvSpPr>
        <p:spPr>
          <a:xfrm>
            <a:off x="6667500" y="2595562"/>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Built on the cutting-edge </a:t>
            </a:r>
            <a:r>
              <a:rPr b="1" i="0" lang="en-US" sz="1500" u="none" cap="none" strike="noStrike">
                <a:solidFill>
                  <a:srgbClr val="515154"/>
                </a:solidFill>
                <a:latin typeface="Arial"/>
                <a:ea typeface="Arial"/>
                <a:cs typeface="Arial"/>
                <a:sym typeface="Arial"/>
              </a:rPr>
              <a:t>3-nanometer</a:t>
            </a:r>
            <a:r>
              <a:rPr b="0" i="0" lang="en-US" sz="1500" u="none" cap="none" strike="noStrike">
                <a:solidFill>
                  <a:srgbClr val="515154"/>
                </a:solidFill>
                <a:latin typeface="Arial"/>
                <a:ea typeface="Arial"/>
                <a:cs typeface="Arial"/>
                <a:sym typeface="Arial"/>
              </a:rPr>
              <a:t> node for extreme energy efficiency.</a:t>
            </a:r>
            <a:endParaRPr/>
          </a:p>
        </p:txBody>
      </p:sp>
      <p:sp>
        <p:nvSpPr>
          <p:cNvPr id="173" name="Google Shape;173;p18"/>
          <p:cNvSpPr txBox="1"/>
          <p:nvPr/>
        </p:nvSpPr>
        <p:spPr>
          <a:xfrm>
            <a:off x="6667500" y="3338512"/>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Features a 6-core CPU and up to a 6-core GPU, effortlessly handling AAA gaming titles.</a:t>
            </a:r>
            <a:endParaRPr/>
          </a:p>
        </p:txBody>
      </p:sp>
      <p:sp>
        <p:nvSpPr>
          <p:cNvPr id="174" name="Google Shape;174;p18"/>
          <p:cNvSpPr txBox="1"/>
          <p:nvPr/>
        </p:nvSpPr>
        <p:spPr>
          <a:xfrm>
            <a:off x="6667500" y="4081462"/>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Dedicated Neural Accelerators embedded in each GPU core supercharge AI processing.</a:t>
            </a:r>
            <a:endParaRPr/>
          </a:p>
        </p:txBody>
      </p:sp>
      <p:sp>
        <p:nvSpPr>
          <p:cNvPr id="175" name="Google Shape;175;p18"/>
          <p:cNvSpPr txBox="1"/>
          <p:nvPr/>
        </p:nvSpPr>
        <p:spPr>
          <a:xfrm>
            <a:off x="6667500" y="4824412"/>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Power optimizations yield up to </a:t>
            </a:r>
            <a:r>
              <a:rPr b="1" i="0" lang="en-US" sz="1500" u="none" cap="none" strike="noStrike">
                <a:solidFill>
                  <a:srgbClr val="515154"/>
                </a:solidFill>
                <a:latin typeface="Arial"/>
                <a:ea typeface="Arial"/>
                <a:cs typeface="Arial"/>
                <a:sym typeface="Arial"/>
              </a:rPr>
              <a:t>30 hours</a:t>
            </a:r>
            <a:r>
              <a:rPr b="0" i="0" lang="en-US" sz="1500" u="none" cap="none" strike="noStrike">
                <a:solidFill>
                  <a:srgbClr val="515154"/>
                </a:solidFill>
                <a:latin typeface="Arial"/>
                <a:ea typeface="Arial"/>
                <a:cs typeface="Arial"/>
                <a:sym typeface="Arial"/>
              </a:rPr>
              <a:t> of sustained battery life.</a:t>
            </a:r>
            <a:endParaRPr/>
          </a:p>
        </p:txBody>
      </p:sp>
      <p:sp>
        <p:nvSpPr>
          <p:cNvPr id="176" name="Google Shape;176;p18"/>
          <p:cNvSpPr txBox="1"/>
          <p:nvPr/>
        </p:nvSpPr>
        <p:spPr>
          <a:xfrm>
            <a:off x="6381750" y="2576512"/>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77" name="Google Shape;177;p18"/>
          <p:cNvSpPr txBox="1"/>
          <p:nvPr/>
        </p:nvSpPr>
        <p:spPr>
          <a:xfrm>
            <a:off x="6381750" y="3319462"/>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78" name="Google Shape;178;p18"/>
          <p:cNvSpPr txBox="1"/>
          <p:nvPr/>
        </p:nvSpPr>
        <p:spPr>
          <a:xfrm>
            <a:off x="6381750" y="4062412"/>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79" name="Google Shape;179;p18"/>
          <p:cNvSpPr txBox="1"/>
          <p:nvPr/>
        </p:nvSpPr>
        <p:spPr>
          <a:xfrm>
            <a:off x="6381750" y="4805362"/>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80" name="Google Shape;180;p18"/>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Performance &amp; Efficiency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pic>
        <p:nvPicPr>
          <p:cNvPr descr="image.png" id="185" name="Google Shape;185;p19"/>
          <p:cNvPicPr preferRelativeResize="0"/>
          <p:nvPr/>
        </p:nvPicPr>
        <p:blipFill rotWithShape="1">
          <a:blip r:embed="rId3">
            <a:alphaModFix/>
          </a:blip>
          <a:srcRect b="0" l="0" r="0" t="0"/>
          <a:stretch/>
        </p:blipFill>
        <p:spPr>
          <a:xfrm>
            <a:off x="6381750" y="1952625"/>
            <a:ext cx="5238750" cy="3810000"/>
          </a:xfrm>
          <a:prstGeom prst="rect">
            <a:avLst/>
          </a:prstGeom>
          <a:noFill/>
          <a:ln>
            <a:noFill/>
          </a:ln>
        </p:spPr>
      </p:pic>
      <p:sp>
        <p:nvSpPr>
          <p:cNvPr id="186" name="Google Shape;186;p19"/>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The camera plateau now features a 48MP Fusion setup across the board. The Pro models enhance this with specialized low-light sensors and a massive 8x optical equivalent zoom range. Additionally, the new front camera enables Center Stage directly on the iPhone for perfectly framed video calls.</a:t>
            </a:r>
            <a:endParaRPr/>
          </a:p>
        </p:txBody>
      </p:sp>
      <p:sp>
        <p:nvSpPr>
          <p:cNvPr id="187" name="Google Shape;187;p19"/>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9"/>
          <p:cNvSpPr txBox="1"/>
          <p:nvPr/>
        </p:nvSpPr>
        <p:spPr>
          <a:xfrm>
            <a:off x="857250" y="2371725"/>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48MP Fusion Systems:</a:t>
            </a:r>
            <a:r>
              <a:rPr b="0" i="0" lang="en-US" sz="1500" u="none" cap="none" strike="noStrike">
                <a:solidFill>
                  <a:srgbClr val="515154"/>
                </a:solidFill>
                <a:latin typeface="Arial"/>
                <a:ea typeface="Arial"/>
                <a:cs typeface="Arial"/>
                <a:sym typeface="Arial"/>
              </a:rPr>
              <a:t> Standard models now boast dual 48MP lenses for stunning clarity.</a:t>
            </a:r>
            <a:endParaRPr/>
          </a:p>
        </p:txBody>
      </p:sp>
      <p:sp>
        <p:nvSpPr>
          <p:cNvPr id="189" name="Google Shape;189;p19"/>
          <p:cNvSpPr txBox="1"/>
          <p:nvPr/>
        </p:nvSpPr>
        <p:spPr>
          <a:xfrm>
            <a:off x="857250" y="3114675"/>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Optical Versatility:</a:t>
            </a:r>
            <a:r>
              <a:rPr b="0" i="0" lang="en-US" sz="1500" u="none" cap="none" strike="noStrike">
                <a:solidFill>
                  <a:srgbClr val="515154"/>
                </a:solidFill>
                <a:latin typeface="Arial"/>
                <a:ea typeface="Arial"/>
                <a:cs typeface="Arial"/>
                <a:sym typeface="Arial"/>
              </a:rPr>
              <a:t> Pro models offer optical zoom spanning 0.5x to 8x equivalents.</a:t>
            </a:r>
            <a:endParaRPr/>
          </a:p>
        </p:txBody>
      </p:sp>
      <p:sp>
        <p:nvSpPr>
          <p:cNvPr id="190" name="Google Shape;190;p19"/>
          <p:cNvSpPr txBox="1"/>
          <p:nvPr/>
        </p:nvSpPr>
        <p:spPr>
          <a:xfrm>
            <a:off x="857250" y="3857625"/>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Center Stage Selfie:</a:t>
            </a:r>
            <a:r>
              <a:rPr b="0" i="0" lang="en-US" sz="1500" u="none" cap="none" strike="noStrike">
                <a:solidFill>
                  <a:srgbClr val="515154"/>
                </a:solidFill>
                <a:latin typeface="Arial"/>
                <a:ea typeface="Arial"/>
                <a:cs typeface="Arial"/>
                <a:sym typeface="Arial"/>
              </a:rPr>
              <a:t> A new 24MP front camera with a square sensor auto-frames subjects in any orientation.</a:t>
            </a:r>
            <a:endParaRPr/>
          </a:p>
        </p:txBody>
      </p:sp>
      <p:sp>
        <p:nvSpPr>
          <p:cNvPr id="191" name="Google Shape;191;p19"/>
          <p:cNvSpPr txBox="1"/>
          <p:nvPr/>
        </p:nvSpPr>
        <p:spPr>
          <a:xfrm>
            <a:off x="857250" y="4600575"/>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Professional Video:</a:t>
            </a:r>
            <a:r>
              <a:rPr b="0" i="0" lang="en-US" sz="1500" u="none" cap="none" strike="noStrike">
                <a:solidFill>
                  <a:srgbClr val="515154"/>
                </a:solidFill>
                <a:latin typeface="Arial"/>
                <a:ea typeface="Arial"/>
                <a:cs typeface="Arial"/>
                <a:sym typeface="Arial"/>
              </a:rPr>
              <a:t> Support for Dolby Vision 4K at 120fps, ProRes RAW, and Apple Log 2.</a:t>
            </a:r>
            <a:endParaRPr/>
          </a:p>
        </p:txBody>
      </p:sp>
      <p:pic>
        <p:nvPicPr>
          <p:cNvPr descr="image.png" id="192" name="Google Shape;192;p19"/>
          <p:cNvPicPr preferRelativeResize="0"/>
          <p:nvPr/>
        </p:nvPicPr>
        <p:blipFill rotWithShape="1">
          <a:blip r:embed="rId4">
            <a:alphaModFix/>
          </a:blip>
          <a:srcRect b="0" l="0" r="0" t="0"/>
          <a:stretch/>
        </p:blipFill>
        <p:spPr>
          <a:xfrm>
            <a:off x="6381750" y="1952625"/>
            <a:ext cx="5238750" cy="3810000"/>
          </a:xfrm>
          <a:prstGeom prst="rect">
            <a:avLst/>
          </a:prstGeom>
          <a:noFill/>
          <a:ln>
            <a:noFill/>
          </a:ln>
        </p:spPr>
      </p:pic>
      <p:sp>
        <p:nvSpPr>
          <p:cNvPr id="193" name="Google Shape;193;p19"/>
          <p:cNvSpPr txBox="1"/>
          <p:nvPr/>
        </p:nvSpPr>
        <p:spPr>
          <a:xfrm>
            <a:off x="571500" y="235267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94" name="Google Shape;194;p19"/>
          <p:cNvSpPr txBox="1"/>
          <p:nvPr/>
        </p:nvSpPr>
        <p:spPr>
          <a:xfrm>
            <a:off x="571500" y="309562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95" name="Google Shape;195;p19"/>
          <p:cNvSpPr txBox="1"/>
          <p:nvPr/>
        </p:nvSpPr>
        <p:spPr>
          <a:xfrm>
            <a:off x="571500" y="383857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96" name="Google Shape;196;p19"/>
          <p:cNvSpPr txBox="1"/>
          <p:nvPr/>
        </p:nvSpPr>
        <p:spPr>
          <a:xfrm>
            <a:off x="571500" y="4581525"/>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197" name="Google Shape;197;p19"/>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Camera Innovations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20"/>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Pricing remains highly competitive, especially considering the base storage has doubled to 256GB across the entire lineup. The starting $799 price for the iPhone 17 represents incredible value, while the new iPhone Air slots in perfectly for users prioritizing a thin, lightweight design.</a:t>
            </a:r>
            <a:endParaRPr/>
          </a:p>
        </p:txBody>
      </p:sp>
      <p:sp>
        <p:nvSpPr>
          <p:cNvPr id="203" name="Google Shape;203;p20"/>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0"/>
          <p:cNvSpPr/>
          <p:nvPr/>
        </p:nvSpPr>
        <p:spPr>
          <a:xfrm>
            <a:off x="571500" y="1833562"/>
            <a:ext cx="11049000" cy="4048125"/>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05" name="Google Shape;205;p20"/>
          <p:cNvGraphicFramePr/>
          <p:nvPr/>
        </p:nvGraphicFramePr>
        <p:xfrm>
          <a:off x="571500" y="1833562"/>
          <a:ext cx="3000000" cy="3000000"/>
        </p:xfrm>
        <a:graphic>
          <a:graphicData uri="http://schemas.openxmlformats.org/drawingml/2006/table">
            <a:tbl>
              <a:tblPr bandRow="1" firstRow="1">
                <a:noFill/>
                <a:tableStyleId>{45EF433F-30DC-419C-A23F-B512E7E59874}</a:tableStyleId>
              </a:tblPr>
              <a:tblGrid>
                <a:gridCol w="2503300"/>
                <a:gridCol w="2650925"/>
                <a:gridCol w="1949050"/>
                <a:gridCol w="3945725"/>
              </a:tblGrid>
              <a:tr h="674675">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Starting Price (USD)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Base Storage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c>
                  <a:txBody>
                    <a:bodyPr/>
                    <a:lstStyle/>
                    <a:p>
                      <a:pPr indent="0" lvl="0" marL="0" marR="0" rtl="0" algn="l">
                        <a:spcBef>
                          <a:spcPts val="0"/>
                        </a:spcBef>
                        <a:spcAft>
                          <a:spcPts val="0"/>
                        </a:spcAft>
                        <a:buNone/>
                      </a:pPr>
                      <a:r>
                        <a:rPr b="0" i="0" lang="en-US" sz="1500" u="none" cap="none" strike="noStrike">
                          <a:solidFill>
                            <a:srgbClr val="1D1D1F"/>
                          </a:solidFill>
                          <a:latin typeface="Arial"/>
                          <a:ea typeface="Arial"/>
                          <a:cs typeface="Arial"/>
                          <a:sym typeface="Arial"/>
                        </a:rPr>
                        <a:t>Target Audience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5F5F7"/>
                    </a:solidFill>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iPhone 17e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$599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Entry-level / Budget-conscious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iPhone 17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$799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Mainstream everyday users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iPhone Air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$899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Minimalists seeking portability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675">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iPhone 17 Pro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$1,099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Photographers &amp; Content Creators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4700">
                <a:tc>
                  <a:txBody>
                    <a:bodyPr/>
                    <a:lstStyle/>
                    <a:p>
                      <a:pPr indent="0" lvl="0" marL="0" marR="0" rtl="0" algn="l">
                        <a:spcBef>
                          <a:spcPts val="0"/>
                        </a:spcBef>
                        <a:spcAft>
                          <a:spcPts val="0"/>
                        </a:spcAft>
                        <a:buNone/>
                      </a:pPr>
                      <a:r>
                        <a:rPr b="1" i="0" lang="en-US" sz="1500" u="none" cap="none" strike="noStrike">
                          <a:solidFill>
                            <a:srgbClr val="515154"/>
                          </a:solidFill>
                          <a:latin typeface="Arial"/>
                          <a:ea typeface="Arial"/>
                          <a:cs typeface="Arial"/>
                          <a:sym typeface="Arial"/>
                        </a:rPr>
                        <a:t>iPhone 17 Pro Max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$1,199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256GB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515154"/>
                          </a:solidFill>
                          <a:latin typeface="Arial"/>
                          <a:ea typeface="Arial"/>
                          <a:cs typeface="Arial"/>
                          <a:sym typeface="Arial"/>
                        </a:rPr>
                        <a:t>Power Users &amp; Gamers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06" name="Google Shape;206;p20"/>
          <p:cNvSpPr/>
          <p:nvPr/>
        </p:nvSpPr>
        <p:spPr>
          <a:xfrm>
            <a:off x="571500" y="2495550"/>
            <a:ext cx="2503289"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0"/>
          <p:cNvSpPr/>
          <p:nvPr/>
        </p:nvSpPr>
        <p:spPr>
          <a:xfrm>
            <a:off x="3074789" y="2495550"/>
            <a:ext cx="265092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0"/>
          <p:cNvSpPr/>
          <p:nvPr/>
        </p:nvSpPr>
        <p:spPr>
          <a:xfrm>
            <a:off x="5725715" y="2495550"/>
            <a:ext cx="1949053"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0"/>
          <p:cNvSpPr/>
          <p:nvPr/>
        </p:nvSpPr>
        <p:spPr>
          <a:xfrm>
            <a:off x="7674768" y="2495550"/>
            <a:ext cx="3945731"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0"/>
          <p:cNvSpPr/>
          <p:nvPr/>
        </p:nvSpPr>
        <p:spPr>
          <a:xfrm>
            <a:off x="571500" y="3171825"/>
            <a:ext cx="2503289"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0"/>
          <p:cNvSpPr/>
          <p:nvPr/>
        </p:nvSpPr>
        <p:spPr>
          <a:xfrm>
            <a:off x="3074789" y="3171825"/>
            <a:ext cx="265092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0"/>
          <p:cNvSpPr/>
          <p:nvPr/>
        </p:nvSpPr>
        <p:spPr>
          <a:xfrm>
            <a:off x="5725715" y="3171825"/>
            <a:ext cx="1949053"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7674768" y="3171825"/>
            <a:ext cx="3945731"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p:nvPr/>
        </p:nvSpPr>
        <p:spPr>
          <a:xfrm>
            <a:off x="571500" y="3848100"/>
            <a:ext cx="2503289"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20"/>
          <p:cNvSpPr/>
          <p:nvPr/>
        </p:nvSpPr>
        <p:spPr>
          <a:xfrm>
            <a:off x="3074789" y="3848100"/>
            <a:ext cx="265092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20"/>
          <p:cNvSpPr/>
          <p:nvPr/>
        </p:nvSpPr>
        <p:spPr>
          <a:xfrm>
            <a:off x="5725715" y="3848100"/>
            <a:ext cx="1949053"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0"/>
          <p:cNvSpPr/>
          <p:nvPr/>
        </p:nvSpPr>
        <p:spPr>
          <a:xfrm>
            <a:off x="7674768" y="3848100"/>
            <a:ext cx="3945731"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0"/>
          <p:cNvSpPr/>
          <p:nvPr/>
        </p:nvSpPr>
        <p:spPr>
          <a:xfrm>
            <a:off x="571500" y="4524375"/>
            <a:ext cx="2503289"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0"/>
          <p:cNvSpPr/>
          <p:nvPr/>
        </p:nvSpPr>
        <p:spPr>
          <a:xfrm>
            <a:off x="3074789" y="4524375"/>
            <a:ext cx="265092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0"/>
          <p:cNvSpPr/>
          <p:nvPr/>
        </p:nvSpPr>
        <p:spPr>
          <a:xfrm>
            <a:off x="5725715" y="4524375"/>
            <a:ext cx="1949053"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0"/>
          <p:cNvSpPr/>
          <p:nvPr/>
        </p:nvSpPr>
        <p:spPr>
          <a:xfrm>
            <a:off x="7674768" y="4524375"/>
            <a:ext cx="3945731"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0"/>
          <p:cNvSpPr/>
          <p:nvPr/>
        </p:nvSpPr>
        <p:spPr>
          <a:xfrm>
            <a:off x="571500" y="5200650"/>
            <a:ext cx="2503289"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20"/>
          <p:cNvSpPr/>
          <p:nvPr/>
        </p:nvSpPr>
        <p:spPr>
          <a:xfrm>
            <a:off x="3074789" y="5200650"/>
            <a:ext cx="2650926"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0"/>
          <p:cNvSpPr/>
          <p:nvPr/>
        </p:nvSpPr>
        <p:spPr>
          <a:xfrm>
            <a:off x="5725715" y="5200650"/>
            <a:ext cx="1949053"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0"/>
          <p:cNvSpPr/>
          <p:nvPr/>
        </p:nvSpPr>
        <p:spPr>
          <a:xfrm>
            <a:off x="7674768" y="5200650"/>
            <a:ext cx="3945731" cy="9525"/>
          </a:xfrm>
          <a:prstGeom prst="rect">
            <a:avLst/>
          </a:prstGeom>
          <a:solidFill>
            <a:srgbClr val="D2D2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0"/>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Pricing &amp; Availability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pic>
        <p:nvPicPr>
          <p:cNvPr descr="image.png" id="231" name="Google Shape;231;p21"/>
          <p:cNvPicPr preferRelativeResize="0"/>
          <p:nvPr/>
        </p:nvPicPr>
        <p:blipFill rotWithShape="1">
          <a:blip r:embed="rId3">
            <a:alphaModFix/>
          </a:blip>
          <a:srcRect b="0" l="0" r="0" t="0"/>
          <a:stretch/>
        </p:blipFill>
        <p:spPr>
          <a:xfrm>
            <a:off x="571500" y="1428750"/>
            <a:ext cx="11049000" cy="4857750"/>
          </a:xfrm>
          <a:prstGeom prst="rect">
            <a:avLst/>
          </a:prstGeom>
          <a:noFill/>
          <a:ln>
            <a:noFill/>
          </a:ln>
        </p:spPr>
      </p:pic>
      <p:sp>
        <p:nvSpPr>
          <p:cNvPr id="232" name="Google Shape;232;p21"/>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Compared to the iPhone 16 series, the leap in base storage (doubling to 256GB) and the massive jump in peak display brightness (reaching 3000 nits) provide one of the best generational upgrades we've seen in years, ensuring the device is fully future-proof.</a:t>
            </a:r>
            <a:endParaRPr/>
          </a:p>
        </p:txBody>
      </p:sp>
      <p:sp>
        <p:nvSpPr>
          <p:cNvPr id="233" name="Google Shape;233;p21"/>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21"/>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Generational Leaps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pic>
        <p:nvPicPr>
          <p:cNvPr descr="image.png" id="239" name="Google Shape;239;p22"/>
          <p:cNvPicPr preferRelativeResize="0"/>
          <p:nvPr/>
        </p:nvPicPr>
        <p:blipFill rotWithShape="1">
          <a:blip r:embed="rId3">
            <a:alphaModFix/>
          </a:blip>
          <a:srcRect b="0" l="0" r="0" t="0"/>
          <a:stretch/>
        </p:blipFill>
        <p:spPr>
          <a:xfrm>
            <a:off x="571500" y="1814512"/>
            <a:ext cx="5238750" cy="4086225"/>
          </a:xfrm>
          <a:prstGeom prst="rect">
            <a:avLst/>
          </a:prstGeom>
          <a:noFill/>
          <a:ln>
            <a:noFill/>
          </a:ln>
        </p:spPr>
      </p:pic>
      <p:pic>
        <p:nvPicPr>
          <p:cNvPr descr="image.png" id="240" name="Google Shape;240;p22"/>
          <p:cNvPicPr preferRelativeResize="0"/>
          <p:nvPr/>
        </p:nvPicPr>
        <p:blipFill rotWithShape="1">
          <a:blip r:embed="rId3">
            <a:alphaModFix/>
          </a:blip>
          <a:srcRect b="0" l="0" r="0" t="0"/>
          <a:stretch/>
        </p:blipFill>
        <p:spPr>
          <a:xfrm>
            <a:off x="6381750" y="1814512"/>
            <a:ext cx="5238750" cy="4086225"/>
          </a:xfrm>
          <a:prstGeom prst="rect">
            <a:avLst/>
          </a:prstGeom>
          <a:noFill/>
          <a:ln>
            <a:noFill/>
          </a:ln>
        </p:spPr>
      </p:pic>
      <p:sp>
        <p:nvSpPr>
          <p:cNvPr id="241" name="Google Shape;241;p22"/>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While the pros vastly outweigh the cons, it's important to note the Pro Max price tag and the delay of the foldable iPhone until 2027. However, the inclusion of a 120Hz display on the baseline iPhone 17 makes it a monumental upgrade for the average consumer.</a:t>
            </a:r>
            <a:endParaRPr/>
          </a:p>
        </p:txBody>
      </p:sp>
      <p:sp>
        <p:nvSpPr>
          <p:cNvPr id="242" name="Google Shape;242;p22"/>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2"/>
          <p:cNvSpPr txBox="1"/>
          <p:nvPr/>
        </p:nvSpPr>
        <p:spPr>
          <a:xfrm>
            <a:off x="952500" y="2290762"/>
            <a:ext cx="470058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D1D1F"/>
                </a:solidFill>
                <a:latin typeface="Arial"/>
                <a:ea typeface="Arial"/>
                <a:cs typeface="Arial"/>
                <a:sym typeface="Arial"/>
              </a:rPr>
              <a:t>Strengths (Pros)</a:t>
            </a:r>
            <a:endParaRPr/>
          </a:p>
        </p:txBody>
      </p:sp>
      <p:sp>
        <p:nvSpPr>
          <p:cNvPr id="244" name="Google Shape;244;p22"/>
          <p:cNvSpPr txBox="1"/>
          <p:nvPr/>
        </p:nvSpPr>
        <p:spPr>
          <a:xfrm>
            <a:off x="6762750" y="2290762"/>
            <a:ext cx="470058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D1D1F"/>
                </a:solidFill>
                <a:latin typeface="Arial"/>
                <a:ea typeface="Arial"/>
                <a:cs typeface="Arial"/>
                <a:sym typeface="Arial"/>
              </a:rPr>
              <a:t>Limitations (Cons)</a:t>
            </a:r>
            <a:endParaRPr/>
          </a:p>
        </p:txBody>
      </p:sp>
      <p:sp>
        <p:nvSpPr>
          <p:cNvPr id="245" name="Google Shape;245;p22"/>
          <p:cNvSpPr txBox="1"/>
          <p:nvPr/>
        </p:nvSpPr>
        <p:spPr>
          <a:xfrm>
            <a:off x="1238250" y="2738437"/>
            <a:ext cx="4191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Double the base storage (256GB) at no extra cost.</a:t>
            </a:r>
            <a:endParaRPr/>
          </a:p>
        </p:txBody>
      </p:sp>
      <p:sp>
        <p:nvSpPr>
          <p:cNvPr id="246" name="Google Shape;246;p22"/>
          <p:cNvSpPr txBox="1"/>
          <p:nvPr/>
        </p:nvSpPr>
        <p:spPr>
          <a:xfrm>
            <a:off x="1238250" y="3481387"/>
            <a:ext cx="4191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ProMotion 120Hz display now on standard models.</a:t>
            </a:r>
            <a:endParaRPr/>
          </a:p>
        </p:txBody>
      </p:sp>
      <p:sp>
        <p:nvSpPr>
          <p:cNvPr id="247" name="Google Shape;247;p22"/>
          <p:cNvSpPr txBox="1"/>
          <p:nvPr/>
        </p:nvSpPr>
        <p:spPr>
          <a:xfrm>
            <a:off x="1238250" y="4224337"/>
            <a:ext cx="4191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Vastly improved thermal management for gaming.</a:t>
            </a:r>
            <a:endParaRPr/>
          </a:p>
        </p:txBody>
      </p:sp>
      <p:sp>
        <p:nvSpPr>
          <p:cNvPr id="248" name="Google Shape;248;p22"/>
          <p:cNvSpPr txBox="1"/>
          <p:nvPr/>
        </p:nvSpPr>
        <p:spPr>
          <a:xfrm>
            <a:off x="1238250" y="4967287"/>
            <a:ext cx="4191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Deep integration of Apple Intelligence features.</a:t>
            </a:r>
            <a:endParaRPr/>
          </a:p>
        </p:txBody>
      </p:sp>
      <p:sp>
        <p:nvSpPr>
          <p:cNvPr id="249" name="Google Shape;249;p22"/>
          <p:cNvSpPr txBox="1"/>
          <p:nvPr/>
        </p:nvSpPr>
        <p:spPr>
          <a:xfrm>
            <a:off x="7048500" y="2738437"/>
            <a:ext cx="4191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Premium pricing on the Pro Max remains high.</a:t>
            </a:r>
            <a:endParaRPr/>
          </a:p>
        </p:txBody>
      </p:sp>
      <p:sp>
        <p:nvSpPr>
          <p:cNvPr id="250" name="Google Shape;250;p22"/>
          <p:cNvSpPr txBox="1"/>
          <p:nvPr/>
        </p:nvSpPr>
        <p:spPr>
          <a:xfrm>
            <a:off x="7048500" y="3195637"/>
            <a:ext cx="4191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Slight learning curve for the new Camera Control.</a:t>
            </a:r>
            <a:endParaRPr/>
          </a:p>
        </p:txBody>
      </p:sp>
      <p:sp>
        <p:nvSpPr>
          <p:cNvPr id="251" name="Google Shape;251;p22"/>
          <p:cNvSpPr txBox="1"/>
          <p:nvPr/>
        </p:nvSpPr>
        <p:spPr>
          <a:xfrm>
            <a:off x="7048500" y="3652837"/>
            <a:ext cx="4191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The highly anticipated foldable model is delayed.</a:t>
            </a:r>
            <a:endParaRPr/>
          </a:p>
        </p:txBody>
      </p:sp>
      <p:sp>
        <p:nvSpPr>
          <p:cNvPr id="252" name="Google Shape;252;p22"/>
          <p:cNvSpPr txBox="1"/>
          <p:nvPr/>
        </p:nvSpPr>
        <p:spPr>
          <a:xfrm>
            <a:off x="7048500" y="4110037"/>
            <a:ext cx="4191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Design language remains iterative rather than revolutionary.</a:t>
            </a:r>
            <a:endParaRPr/>
          </a:p>
        </p:txBody>
      </p:sp>
      <p:sp>
        <p:nvSpPr>
          <p:cNvPr id="253" name="Google Shape;253;p22"/>
          <p:cNvSpPr txBox="1"/>
          <p:nvPr/>
        </p:nvSpPr>
        <p:spPr>
          <a:xfrm>
            <a:off x="952500" y="271938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54" name="Google Shape;254;p22"/>
          <p:cNvSpPr txBox="1"/>
          <p:nvPr/>
        </p:nvSpPr>
        <p:spPr>
          <a:xfrm>
            <a:off x="952500" y="346233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55" name="Google Shape;255;p22"/>
          <p:cNvSpPr txBox="1"/>
          <p:nvPr/>
        </p:nvSpPr>
        <p:spPr>
          <a:xfrm>
            <a:off x="952500" y="420528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56" name="Google Shape;256;p22"/>
          <p:cNvSpPr txBox="1"/>
          <p:nvPr/>
        </p:nvSpPr>
        <p:spPr>
          <a:xfrm>
            <a:off x="952500" y="494823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57" name="Google Shape;257;p22"/>
          <p:cNvSpPr txBox="1"/>
          <p:nvPr/>
        </p:nvSpPr>
        <p:spPr>
          <a:xfrm>
            <a:off x="6762750" y="271938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58" name="Google Shape;258;p22"/>
          <p:cNvSpPr txBox="1"/>
          <p:nvPr/>
        </p:nvSpPr>
        <p:spPr>
          <a:xfrm>
            <a:off x="6762750" y="317658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59" name="Google Shape;259;p22"/>
          <p:cNvSpPr txBox="1"/>
          <p:nvPr/>
        </p:nvSpPr>
        <p:spPr>
          <a:xfrm>
            <a:off x="6762750" y="363378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60" name="Google Shape;260;p22"/>
          <p:cNvSpPr txBox="1"/>
          <p:nvPr/>
        </p:nvSpPr>
        <p:spPr>
          <a:xfrm>
            <a:off x="6762750" y="4090987"/>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61" name="Google Shape;261;p22"/>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Pros &amp; Cons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pic>
        <p:nvPicPr>
          <p:cNvPr descr="image.png" id="266" name="Google Shape;266;p23"/>
          <p:cNvPicPr preferRelativeResize="0"/>
          <p:nvPr/>
        </p:nvPicPr>
        <p:blipFill rotWithShape="1">
          <a:blip r:embed="rId3">
            <a:alphaModFix/>
          </a:blip>
          <a:srcRect b="0" l="0" r="0" t="0"/>
          <a:stretch/>
        </p:blipFill>
        <p:spPr>
          <a:xfrm>
            <a:off x="6381750" y="1952625"/>
            <a:ext cx="5238750" cy="3810000"/>
          </a:xfrm>
          <a:prstGeom prst="rect">
            <a:avLst/>
          </a:prstGeom>
          <a:noFill/>
          <a:ln>
            <a:noFill/>
          </a:ln>
        </p:spPr>
      </p:pic>
      <p:sp>
        <p:nvSpPr>
          <p:cNvPr id="267" name="Google Shape;267;p23"/>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To summarize our recommendations: The 17e is excellent for students on a budget. The standard 17 hits the sweet spot for 80% of users. The Air is perfect for those who want a thin, light phone, while the Pro models remain the undisputed kings for digital creators.</a:t>
            </a:r>
            <a:endParaRPr/>
          </a:p>
        </p:txBody>
      </p:sp>
      <p:sp>
        <p:nvSpPr>
          <p:cNvPr id="268" name="Google Shape;268;p23"/>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3"/>
          <p:cNvSpPr txBox="1"/>
          <p:nvPr/>
        </p:nvSpPr>
        <p:spPr>
          <a:xfrm>
            <a:off x="857250" y="222885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For Students:</a:t>
            </a:r>
            <a:r>
              <a:rPr b="0" i="0" lang="en-US" sz="1500" u="none" cap="none" strike="noStrike">
                <a:solidFill>
                  <a:srgbClr val="515154"/>
                </a:solidFill>
                <a:latin typeface="Arial"/>
                <a:ea typeface="Arial"/>
                <a:cs typeface="Arial"/>
                <a:sym typeface="Arial"/>
              </a:rPr>
              <a:t> The </a:t>
            </a:r>
            <a:r>
              <a:rPr b="0" i="1" lang="en-US" sz="1500" u="none" cap="none" strike="noStrike">
                <a:solidFill>
                  <a:srgbClr val="515154"/>
                </a:solidFill>
                <a:latin typeface="Arial"/>
                <a:ea typeface="Arial"/>
                <a:cs typeface="Arial"/>
                <a:sym typeface="Arial"/>
              </a:rPr>
              <a:t>iPhone 17e</a:t>
            </a:r>
            <a:r>
              <a:rPr b="0" i="0" lang="en-US" sz="1500" u="none" cap="none" strike="noStrike">
                <a:solidFill>
                  <a:srgbClr val="515154"/>
                </a:solidFill>
                <a:latin typeface="Arial"/>
                <a:ea typeface="Arial"/>
                <a:cs typeface="Arial"/>
                <a:sym typeface="Arial"/>
              </a:rPr>
              <a:t> offers exceptional value, Apple Intelligence, and a solid camera for everyday use.</a:t>
            </a:r>
            <a:endParaRPr/>
          </a:p>
        </p:txBody>
      </p:sp>
      <p:sp>
        <p:nvSpPr>
          <p:cNvPr id="270" name="Google Shape;270;p23"/>
          <p:cNvSpPr txBox="1"/>
          <p:nvPr/>
        </p:nvSpPr>
        <p:spPr>
          <a:xfrm>
            <a:off x="857250" y="297180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For the Mainstream:</a:t>
            </a:r>
            <a:r>
              <a:rPr b="0" i="0" lang="en-US" sz="1500" u="none" cap="none" strike="noStrike">
                <a:solidFill>
                  <a:srgbClr val="515154"/>
                </a:solidFill>
                <a:latin typeface="Arial"/>
                <a:ea typeface="Arial"/>
                <a:cs typeface="Arial"/>
                <a:sym typeface="Arial"/>
              </a:rPr>
              <a:t> The </a:t>
            </a:r>
            <a:r>
              <a:rPr b="0" i="1" lang="en-US" sz="1500" u="none" cap="none" strike="noStrike">
                <a:solidFill>
                  <a:srgbClr val="515154"/>
                </a:solidFill>
                <a:latin typeface="Arial"/>
                <a:ea typeface="Arial"/>
                <a:cs typeface="Arial"/>
                <a:sym typeface="Arial"/>
              </a:rPr>
              <a:t>iPhone 17</a:t>
            </a:r>
            <a:r>
              <a:rPr b="0" i="0" lang="en-US" sz="1500" u="none" cap="none" strike="noStrike">
                <a:solidFill>
                  <a:srgbClr val="515154"/>
                </a:solidFill>
                <a:latin typeface="Arial"/>
                <a:ea typeface="Arial"/>
                <a:cs typeface="Arial"/>
                <a:sym typeface="Arial"/>
              </a:rPr>
              <a:t> is the sweet spot, featuring Pro-level displays and 48MP cameras.</a:t>
            </a:r>
            <a:endParaRPr/>
          </a:p>
        </p:txBody>
      </p:sp>
      <p:sp>
        <p:nvSpPr>
          <p:cNvPr id="271" name="Google Shape;271;p23"/>
          <p:cNvSpPr txBox="1"/>
          <p:nvPr/>
        </p:nvSpPr>
        <p:spPr>
          <a:xfrm>
            <a:off x="857250" y="371475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For Minimalists:</a:t>
            </a:r>
            <a:r>
              <a:rPr b="0" i="0" lang="en-US" sz="1500" u="none" cap="none" strike="noStrike">
                <a:solidFill>
                  <a:srgbClr val="515154"/>
                </a:solidFill>
                <a:latin typeface="Arial"/>
                <a:ea typeface="Arial"/>
                <a:cs typeface="Arial"/>
                <a:sym typeface="Arial"/>
              </a:rPr>
              <a:t> The </a:t>
            </a:r>
            <a:r>
              <a:rPr b="0" i="1" lang="en-US" sz="1500" u="none" cap="none" strike="noStrike">
                <a:solidFill>
                  <a:srgbClr val="515154"/>
                </a:solidFill>
                <a:latin typeface="Arial"/>
                <a:ea typeface="Arial"/>
                <a:cs typeface="Arial"/>
                <a:sym typeface="Arial"/>
              </a:rPr>
              <a:t>iPhone Air</a:t>
            </a:r>
            <a:r>
              <a:rPr b="0" i="0" lang="en-US" sz="1500" u="none" cap="none" strike="noStrike">
                <a:solidFill>
                  <a:srgbClr val="515154"/>
                </a:solidFill>
                <a:latin typeface="Arial"/>
                <a:ea typeface="Arial"/>
                <a:cs typeface="Arial"/>
                <a:sym typeface="Arial"/>
              </a:rPr>
              <a:t> delivers flagship power in an ultra-sleek, lightweight chassis.</a:t>
            </a:r>
            <a:endParaRPr/>
          </a:p>
        </p:txBody>
      </p:sp>
      <p:sp>
        <p:nvSpPr>
          <p:cNvPr id="272" name="Google Shape;272;p23"/>
          <p:cNvSpPr txBox="1"/>
          <p:nvPr/>
        </p:nvSpPr>
        <p:spPr>
          <a:xfrm>
            <a:off x="857250" y="4457700"/>
            <a:ext cx="49530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515154"/>
                </a:solidFill>
                <a:latin typeface="Arial"/>
                <a:ea typeface="Arial"/>
                <a:cs typeface="Arial"/>
                <a:sym typeface="Arial"/>
              </a:rPr>
              <a:t>For Creators &amp; Pros:</a:t>
            </a:r>
            <a:r>
              <a:rPr b="0" i="0" lang="en-US" sz="1500" u="none" cap="none" strike="noStrike">
                <a:solidFill>
                  <a:srgbClr val="515154"/>
                </a:solidFill>
                <a:latin typeface="Arial"/>
                <a:ea typeface="Arial"/>
                <a:cs typeface="Arial"/>
                <a:sym typeface="Arial"/>
              </a:rPr>
              <a:t> The </a:t>
            </a:r>
            <a:r>
              <a:rPr b="0" i="1" lang="en-US" sz="1500" u="none" cap="none" strike="noStrike">
                <a:solidFill>
                  <a:srgbClr val="515154"/>
                </a:solidFill>
                <a:latin typeface="Arial"/>
                <a:ea typeface="Arial"/>
                <a:cs typeface="Arial"/>
                <a:sym typeface="Arial"/>
              </a:rPr>
              <a:t>17 Pro series</a:t>
            </a:r>
            <a:r>
              <a:rPr b="0" i="0" lang="en-US" sz="1500" u="none" cap="none" strike="noStrike">
                <a:solidFill>
                  <a:srgbClr val="515154"/>
                </a:solidFill>
                <a:latin typeface="Arial"/>
                <a:ea typeface="Arial"/>
                <a:cs typeface="Arial"/>
                <a:sym typeface="Arial"/>
              </a:rPr>
              <a:t> provides unparalleled video recording, optical zoom, and processing power.</a:t>
            </a:r>
            <a:endParaRPr/>
          </a:p>
        </p:txBody>
      </p:sp>
      <p:pic>
        <p:nvPicPr>
          <p:cNvPr descr="image.png" id="273" name="Google Shape;273;p23"/>
          <p:cNvPicPr preferRelativeResize="0"/>
          <p:nvPr/>
        </p:nvPicPr>
        <p:blipFill rotWithShape="1">
          <a:blip r:embed="rId4">
            <a:alphaModFix/>
          </a:blip>
          <a:srcRect b="0" l="0" r="0" t="0"/>
          <a:stretch/>
        </p:blipFill>
        <p:spPr>
          <a:xfrm>
            <a:off x="6381750" y="1952625"/>
            <a:ext cx="5238750" cy="3810000"/>
          </a:xfrm>
          <a:prstGeom prst="rect">
            <a:avLst/>
          </a:prstGeom>
          <a:noFill/>
          <a:ln>
            <a:noFill/>
          </a:ln>
        </p:spPr>
      </p:pic>
      <p:sp>
        <p:nvSpPr>
          <p:cNvPr id="274" name="Google Shape;274;p23"/>
          <p:cNvSpPr txBox="1"/>
          <p:nvPr/>
        </p:nvSpPr>
        <p:spPr>
          <a:xfrm>
            <a:off x="571500" y="2209800"/>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75" name="Google Shape;275;p23"/>
          <p:cNvSpPr txBox="1"/>
          <p:nvPr/>
        </p:nvSpPr>
        <p:spPr>
          <a:xfrm>
            <a:off x="571500" y="2952750"/>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76" name="Google Shape;276;p23"/>
          <p:cNvSpPr txBox="1"/>
          <p:nvPr/>
        </p:nvSpPr>
        <p:spPr>
          <a:xfrm>
            <a:off x="571500" y="3695700"/>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77" name="Google Shape;277;p23"/>
          <p:cNvSpPr txBox="1"/>
          <p:nvPr/>
        </p:nvSpPr>
        <p:spPr>
          <a:xfrm>
            <a:off x="571500" y="4438650"/>
            <a:ext cx="762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00" u="none" cap="none" strike="noStrike">
                <a:solidFill>
                  <a:srgbClr val="0071E3"/>
                </a:solidFill>
                <a:latin typeface="Arial"/>
                <a:ea typeface="Arial"/>
                <a:cs typeface="Arial"/>
                <a:sym typeface="Arial"/>
              </a:rPr>
              <a:t>•</a:t>
            </a:r>
            <a:endParaRPr/>
          </a:p>
        </p:txBody>
      </p:sp>
      <p:sp>
        <p:nvSpPr>
          <p:cNvPr id="278" name="Google Shape;278;p23"/>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Buying Recommendations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24"/>
          <p:cNvSpPr txBox="1"/>
          <p:nvPr/>
        </p:nvSpPr>
        <p:spPr>
          <a:xfrm>
            <a:off x="295275" y="2986087"/>
            <a:ext cx="11601450" cy="781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5400" u="none" cap="none" strike="noStrike">
                <a:solidFill>
                  <a:srgbClr val="1D1D1F"/>
                </a:solidFill>
                <a:latin typeface="Arial"/>
                <a:ea typeface="Arial"/>
                <a:cs typeface="Arial"/>
                <a:sym typeface="Arial"/>
              </a:rPr>
              <a:t>Questions?</a:t>
            </a:r>
            <a:endParaRPr/>
          </a:p>
        </p:txBody>
      </p:sp>
      <p:sp>
        <p:nvSpPr>
          <p:cNvPr id="284" name="Google Shape;284;p24"/>
          <p:cNvSpPr txBox="1"/>
          <p:nvPr/>
        </p:nvSpPr>
        <p:spPr>
          <a:xfrm>
            <a:off x="571500" y="3957637"/>
            <a:ext cx="1104900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515154"/>
                </a:solidFill>
                <a:latin typeface="Arial"/>
                <a:ea typeface="Arial"/>
                <a:cs typeface="Arial"/>
                <a:sym typeface="Arial"/>
              </a:rPr>
              <a:t>Thank you for exploring the future of iPhone with us.</a:t>
            </a:r>
            <a:endParaRPr/>
          </a:p>
        </p:txBody>
      </p:sp>
      <p:sp>
        <p:nvSpPr>
          <p:cNvPr id="285" name="Google Shape;285;p24"/>
          <p:cNvSpPr txBox="1"/>
          <p:nvPr/>
        </p:nvSpPr>
        <p:spPr>
          <a:xfrm>
            <a:off x="571500" y="4719637"/>
            <a:ext cx="11049000"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86868B"/>
                </a:solidFill>
                <a:latin typeface="Arial"/>
                <a:ea typeface="Arial"/>
                <a:cs typeface="Arial"/>
                <a:sym typeface="Arial"/>
              </a:rPr>
              <a:t>Explore more at apple.com/iphone</a:t>
            </a:r>
            <a:endParaRPr/>
          </a:p>
        </p:txBody>
      </p:sp>
      <p:sp>
        <p:nvSpPr>
          <p:cNvPr id="286" name="Google Shape;286;p24"/>
          <p:cNvSpPr txBox="1"/>
          <p:nvPr/>
        </p:nvSpPr>
        <p:spPr>
          <a:xfrm>
            <a:off x="1162050" y="6724650"/>
            <a:ext cx="9867900" cy="1333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1D1D1F"/>
                </a:solidFill>
                <a:latin typeface="Arial"/>
                <a:ea typeface="Arial"/>
                <a:cs typeface="Arial"/>
                <a:sym typeface="Arial"/>
              </a:rPr>
              <a:t>Thank you for your time. Are there any questions about the 2026 iPhone lineup, Apple Intelligence, or the new pricing structures?</a:t>
            </a:r>
            <a:endParaRPr/>
          </a:p>
        </p:txBody>
      </p:sp>
      <p:sp>
        <p:nvSpPr>
          <p:cNvPr id="287" name="Google Shape;287;p24"/>
          <p:cNvSpPr/>
          <p:nvPr/>
        </p:nvSpPr>
        <p:spPr>
          <a:xfrm>
            <a:off x="1162050" y="6610350"/>
            <a:ext cx="9867900" cy="9525"/>
          </a:xfrm>
          <a:prstGeom prst="rect">
            <a:avLst/>
          </a:prstGeom>
          <a:solidFill>
            <a:srgbClr val="E5E5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8" name="Google Shape;288;p24"/>
          <p:cNvPicPr preferRelativeResize="0"/>
          <p:nvPr/>
        </p:nvPicPr>
        <p:blipFill rotWithShape="1">
          <a:blip r:embed="rId3">
            <a:alphaModFix/>
          </a:blip>
          <a:srcRect b="0" l="0" r="0" t="0"/>
          <a:stretch/>
        </p:blipFill>
        <p:spPr>
          <a:xfrm>
            <a:off x="5810250" y="1947862"/>
            <a:ext cx="571500" cy="762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5"/>
          <p:cNvSpPr/>
          <p:nvPr/>
        </p:nvSpPr>
        <p:spPr>
          <a:xfrm>
            <a:off x="571500" y="1847850"/>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5"/>
          <p:cNvSpPr/>
          <p:nvPr/>
        </p:nvSpPr>
        <p:spPr>
          <a:xfrm>
            <a:off x="571500" y="2619375"/>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25"/>
          <p:cNvSpPr/>
          <p:nvPr/>
        </p:nvSpPr>
        <p:spPr>
          <a:xfrm>
            <a:off x="571500" y="3390900"/>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5"/>
          <p:cNvSpPr/>
          <p:nvPr/>
        </p:nvSpPr>
        <p:spPr>
          <a:xfrm>
            <a:off x="571500" y="4162425"/>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5"/>
          <p:cNvSpPr/>
          <p:nvPr/>
        </p:nvSpPr>
        <p:spPr>
          <a:xfrm>
            <a:off x="571500" y="260985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5"/>
          <p:cNvSpPr/>
          <p:nvPr/>
        </p:nvSpPr>
        <p:spPr>
          <a:xfrm>
            <a:off x="571500" y="260985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5"/>
          <p:cNvSpPr/>
          <p:nvPr/>
        </p:nvSpPr>
        <p:spPr>
          <a:xfrm>
            <a:off x="571500" y="33813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5"/>
          <p:cNvSpPr/>
          <p:nvPr/>
        </p:nvSpPr>
        <p:spPr>
          <a:xfrm>
            <a:off x="571500" y="33813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5"/>
          <p:cNvSpPr/>
          <p:nvPr/>
        </p:nvSpPr>
        <p:spPr>
          <a:xfrm>
            <a:off x="571500" y="41529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25"/>
          <p:cNvSpPr/>
          <p:nvPr/>
        </p:nvSpPr>
        <p:spPr>
          <a:xfrm>
            <a:off x="571500" y="41529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5"/>
          <p:cNvSpPr/>
          <p:nvPr/>
        </p:nvSpPr>
        <p:spPr>
          <a:xfrm>
            <a:off x="571500" y="492442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5"/>
          <p:cNvSpPr/>
          <p:nvPr/>
        </p:nvSpPr>
        <p:spPr>
          <a:xfrm>
            <a:off x="571500" y="492442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05" name="Google Shape;305;p25"/>
          <p:cNvPicPr preferRelativeResize="0"/>
          <p:nvPr/>
        </p:nvPicPr>
        <p:blipFill rotWithShape="1">
          <a:blip r:embed="rId3">
            <a:alphaModFix/>
          </a:blip>
          <a:srcRect b="0" l="0" r="0" t="0"/>
          <a:stretch/>
        </p:blipFill>
        <p:spPr>
          <a:xfrm>
            <a:off x="571500" y="1990725"/>
            <a:ext cx="857250" cy="476250"/>
          </a:xfrm>
          <a:prstGeom prst="rect">
            <a:avLst/>
          </a:prstGeom>
          <a:noFill/>
          <a:ln>
            <a:noFill/>
          </a:ln>
        </p:spPr>
      </p:pic>
      <p:sp>
        <p:nvSpPr>
          <p:cNvPr id="306" name="Google Shape;306;p25"/>
          <p:cNvSpPr txBox="1"/>
          <p:nvPr/>
        </p:nvSpPr>
        <p:spPr>
          <a:xfrm>
            <a:off x="1666875" y="1997868"/>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515154"/>
                </a:solidFill>
                <a:latin typeface="Arial"/>
                <a:ea typeface="Arial"/>
                <a:cs typeface="Arial"/>
                <a:sym typeface="Arial"/>
              </a:rPr>
              <a:t>https://images.stockcake.com/public/a/9/5/a9516ede-fb82-4d26-abf9-139a978630b2_large/sleek-smartphone-design-stockcake.jpg</a:t>
            </a:r>
            <a:endParaRPr/>
          </a:p>
        </p:txBody>
      </p:sp>
      <p:sp>
        <p:nvSpPr>
          <p:cNvPr id="307" name="Google Shape;307;p25"/>
          <p:cNvSpPr txBox="1"/>
          <p:nvPr/>
        </p:nvSpPr>
        <p:spPr>
          <a:xfrm>
            <a:off x="1666875" y="2231231"/>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515154"/>
                </a:solidFill>
                <a:latin typeface="Arial"/>
                <a:ea typeface="Arial"/>
                <a:cs typeface="Arial"/>
                <a:sym typeface="Arial"/>
              </a:rPr>
              <a:t>Source: </a:t>
            </a:r>
            <a:r>
              <a:rPr b="0" i="0" lang="en-US" sz="1200" u="none" cap="none" strike="noStrike">
                <a:solidFill>
                  <a:srgbClr val="4F46E5"/>
                </a:solidFill>
                <a:latin typeface="Arial"/>
                <a:ea typeface="Arial"/>
                <a:cs typeface="Arial"/>
                <a:sym typeface="Arial"/>
              </a:rPr>
              <a:t>stockcake.com</a:t>
            </a:r>
            <a:endParaRPr/>
          </a:p>
        </p:txBody>
      </p:sp>
      <p:pic>
        <p:nvPicPr>
          <p:cNvPr descr="image.png" id="308" name="Google Shape;308;p25"/>
          <p:cNvPicPr preferRelativeResize="0"/>
          <p:nvPr/>
        </p:nvPicPr>
        <p:blipFill rotWithShape="1">
          <a:blip r:embed="rId4">
            <a:alphaModFix/>
          </a:blip>
          <a:srcRect b="0" l="0" r="0" t="0"/>
          <a:stretch/>
        </p:blipFill>
        <p:spPr>
          <a:xfrm>
            <a:off x="571500" y="2762250"/>
            <a:ext cx="857250" cy="476250"/>
          </a:xfrm>
          <a:prstGeom prst="rect">
            <a:avLst/>
          </a:prstGeom>
          <a:noFill/>
          <a:ln>
            <a:noFill/>
          </a:ln>
        </p:spPr>
      </p:pic>
      <p:sp>
        <p:nvSpPr>
          <p:cNvPr id="309" name="Google Shape;309;p25"/>
          <p:cNvSpPr txBox="1"/>
          <p:nvPr/>
        </p:nvSpPr>
        <p:spPr>
          <a:xfrm>
            <a:off x="1666875" y="2769393"/>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515154"/>
                </a:solidFill>
                <a:latin typeface="Arial"/>
                <a:ea typeface="Arial"/>
                <a:cs typeface="Arial"/>
                <a:sym typeface="Arial"/>
              </a:rPr>
              <a:t>https://images.stockcake.com/public/7/7/2/772d956b-0926-4b6b-b106-c0aa00bb994b_large/vibrant-neural-network-stockcake.jpg</a:t>
            </a:r>
            <a:endParaRPr/>
          </a:p>
        </p:txBody>
      </p:sp>
      <p:sp>
        <p:nvSpPr>
          <p:cNvPr id="310" name="Google Shape;310;p25"/>
          <p:cNvSpPr txBox="1"/>
          <p:nvPr/>
        </p:nvSpPr>
        <p:spPr>
          <a:xfrm>
            <a:off x="1666875" y="3002756"/>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515154"/>
                </a:solidFill>
                <a:latin typeface="Arial"/>
                <a:ea typeface="Arial"/>
                <a:cs typeface="Arial"/>
                <a:sym typeface="Arial"/>
              </a:rPr>
              <a:t>Source: </a:t>
            </a:r>
            <a:r>
              <a:rPr b="0" i="0" lang="en-US" sz="1200" u="none" cap="none" strike="noStrike">
                <a:solidFill>
                  <a:srgbClr val="4F46E5"/>
                </a:solidFill>
                <a:latin typeface="Arial"/>
                <a:ea typeface="Arial"/>
                <a:cs typeface="Arial"/>
                <a:sym typeface="Arial"/>
              </a:rPr>
              <a:t>stockcake.com</a:t>
            </a:r>
            <a:endParaRPr/>
          </a:p>
        </p:txBody>
      </p:sp>
      <p:pic>
        <p:nvPicPr>
          <p:cNvPr descr="image.png" id="311" name="Google Shape;311;p25"/>
          <p:cNvPicPr preferRelativeResize="0"/>
          <p:nvPr/>
        </p:nvPicPr>
        <p:blipFill rotWithShape="1">
          <a:blip r:embed="rId5">
            <a:alphaModFix/>
          </a:blip>
          <a:srcRect b="0" l="0" r="0" t="0"/>
          <a:stretch/>
        </p:blipFill>
        <p:spPr>
          <a:xfrm>
            <a:off x="571500" y="3533775"/>
            <a:ext cx="857250" cy="476250"/>
          </a:xfrm>
          <a:prstGeom prst="rect">
            <a:avLst/>
          </a:prstGeom>
          <a:noFill/>
          <a:ln>
            <a:noFill/>
          </a:ln>
        </p:spPr>
      </p:pic>
      <p:sp>
        <p:nvSpPr>
          <p:cNvPr id="312" name="Google Shape;312;p25"/>
          <p:cNvSpPr txBox="1"/>
          <p:nvPr/>
        </p:nvSpPr>
        <p:spPr>
          <a:xfrm>
            <a:off x="1666875" y="3540918"/>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515154"/>
                </a:solidFill>
                <a:latin typeface="Arial"/>
                <a:ea typeface="Arial"/>
                <a:cs typeface="Arial"/>
                <a:sym typeface="Arial"/>
              </a:rPr>
              <a:t>https://petapixel.com/assets/uploads/2025/10/vivo-x300-pro-review-featured.jpg</a:t>
            </a:r>
            <a:endParaRPr/>
          </a:p>
        </p:txBody>
      </p:sp>
      <p:sp>
        <p:nvSpPr>
          <p:cNvPr id="313" name="Google Shape;313;p25"/>
          <p:cNvSpPr txBox="1"/>
          <p:nvPr/>
        </p:nvSpPr>
        <p:spPr>
          <a:xfrm>
            <a:off x="1666875" y="3774281"/>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515154"/>
                </a:solidFill>
                <a:latin typeface="Arial"/>
                <a:ea typeface="Arial"/>
                <a:cs typeface="Arial"/>
                <a:sym typeface="Arial"/>
              </a:rPr>
              <a:t>Source: </a:t>
            </a:r>
            <a:r>
              <a:rPr b="0" i="0" lang="en-US" sz="1200" u="none" cap="none" strike="noStrike">
                <a:solidFill>
                  <a:srgbClr val="4F46E5"/>
                </a:solidFill>
                <a:latin typeface="Arial"/>
                <a:ea typeface="Arial"/>
                <a:cs typeface="Arial"/>
                <a:sym typeface="Arial"/>
              </a:rPr>
              <a:t>petapixel.com</a:t>
            </a:r>
            <a:endParaRPr/>
          </a:p>
        </p:txBody>
      </p:sp>
      <p:pic>
        <p:nvPicPr>
          <p:cNvPr descr="image.png" id="314" name="Google Shape;314;p25"/>
          <p:cNvPicPr preferRelativeResize="0"/>
          <p:nvPr/>
        </p:nvPicPr>
        <p:blipFill rotWithShape="1">
          <a:blip r:embed="rId6">
            <a:alphaModFix/>
          </a:blip>
          <a:srcRect b="0" l="0" r="0" t="0"/>
          <a:stretch/>
        </p:blipFill>
        <p:spPr>
          <a:xfrm>
            <a:off x="571500" y="4305300"/>
            <a:ext cx="857250" cy="476250"/>
          </a:xfrm>
          <a:prstGeom prst="rect">
            <a:avLst/>
          </a:prstGeom>
          <a:noFill/>
          <a:ln>
            <a:noFill/>
          </a:ln>
        </p:spPr>
      </p:pic>
      <p:sp>
        <p:nvSpPr>
          <p:cNvPr id="315" name="Google Shape;315;p25"/>
          <p:cNvSpPr txBox="1"/>
          <p:nvPr/>
        </p:nvSpPr>
        <p:spPr>
          <a:xfrm>
            <a:off x="1666875" y="4312443"/>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515154"/>
                </a:solidFill>
                <a:latin typeface="Arial"/>
                <a:ea typeface="Arial"/>
                <a:cs typeface="Arial"/>
                <a:sym typeface="Arial"/>
              </a:rPr>
              <a:t>https://www.lemon8-app.com/seo/image?item_id=7557807091847725599&amp;index=0&amp;sign=f5784aa753ed0fa6ae869c7f55088ad7</a:t>
            </a:r>
            <a:endParaRPr/>
          </a:p>
        </p:txBody>
      </p:sp>
      <p:sp>
        <p:nvSpPr>
          <p:cNvPr id="316" name="Google Shape;316;p25"/>
          <p:cNvSpPr txBox="1"/>
          <p:nvPr/>
        </p:nvSpPr>
        <p:spPr>
          <a:xfrm>
            <a:off x="1666875" y="4545806"/>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515154"/>
                </a:solidFill>
                <a:latin typeface="Arial"/>
                <a:ea typeface="Arial"/>
                <a:cs typeface="Arial"/>
                <a:sym typeface="Arial"/>
              </a:rPr>
              <a:t>Source: </a:t>
            </a:r>
            <a:r>
              <a:rPr b="0" i="0" lang="en-US" sz="1200" u="none" cap="none" strike="noStrike">
                <a:solidFill>
                  <a:srgbClr val="4F46E5"/>
                </a:solidFill>
                <a:latin typeface="Arial"/>
                <a:ea typeface="Arial"/>
                <a:cs typeface="Arial"/>
                <a:sym typeface="Arial"/>
              </a:rPr>
              <a:t>www.lemon8-app.com</a:t>
            </a:r>
            <a:endParaRPr/>
          </a:p>
        </p:txBody>
      </p:sp>
      <p:pic>
        <p:nvPicPr>
          <p:cNvPr descr="image.png" id="317" name="Google Shape;317;p25"/>
          <p:cNvPicPr preferRelativeResize="0"/>
          <p:nvPr/>
        </p:nvPicPr>
        <p:blipFill rotWithShape="1">
          <a:blip r:embed="rId7">
            <a:alphaModFix/>
          </a:blip>
          <a:srcRect b="0" l="0" r="0" t="0"/>
          <a:stretch/>
        </p:blipFill>
        <p:spPr>
          <a:xfrm>
            <a:off x="571500" y="5162550"/>
            <a:ext cx="857250" cy="476250"/>
          </a:xfrm>
          <a:prstGeom prst="rect">
            <a:avLst/>
          </a:prstGeom>
          <a:noFill/>
          <a:ln>
            <a:noFill/>
          </a:ln>
        </p:spPr>
      </p:pic>
      <p:sp>
        <p:nvSpPr>
          <p:cNvPr id="318" name="Google Shape;318;p25"/>
          <p:cNvSpPr txBox="1"/>
          <p:nvPr/>
        </p:nvSpPr>
        <p:spPr>
          <a:xfrm>
            <a:off x="1666875" y="5076825"/>
            <a:ext cx="9953625" cy="371475"/>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515154"/>
                </a:solidFill>
                <a:latin typeface="Arial"/>
                <a:ea typeface="Arial"/>
                <a:cs typeface="Arial"/>
                <a:sym typeface="Arial"/>
              </a:rPr>
              <a:t>https://www.chromaticlabs.co/_next/image?url=https%3A%2F%2Fraoyzjobgmmlsiydiylt.supabase.co%2Fstorage%2Fv1%2Fobject%2Fpublic%2Fpublic_bucket%2Fstoryboard-assets%2F938e255e-eb58-481a-ba98-c5348a5b194e%2F3d8ff730-18d8-4b97-8603-39ca9969f038%2F1772297583815-e5d779f8-9442-4989-a49d-103611d0b764.png&amp;w=3840&amp;q=75</a:t>
            </a:r>
            <a:endParaRPr/>
          </a:p>
        </p:txBody>
      </p:sp>
      <p:sp>
        <p:nvSpPr>
          <p:cNvPr id="319" name="Google Shape;319;p25"/>
          <p:cNvSpPr txBox="1"/>
          <p:nvPr/>
        </p:nvSpPr>
        <p:spPr>
          <a:xfrm>
            <a:off x="1666875" y="5495925"/>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515154"/>
                </a:solidFill>
                <a:latin typeface="Arial"/>
                <a:ea typeface="Arial"/>
                <a:cs typeface="Arial"/>
                <a:sym typeface="Arial"/>
              </a:rPr>
              <a:t>Source: </a:t>
            </a:r>
            <a:r>
              <a:rPr b="0" i="0" lang="en-US" sz="1200" u="none" cap="none" strike="noStrike">
                <a:solidFill>
                  <a:srgbClr val="4F46E5"/>
                </a:solidFill>
                <a:latin typeface="Arial"/>
                <a:ea typeface="Arial"/>
                <a:cs typeface="Arial"/>
                <a:sym typeface="Arial"/>
              </a:rPr>
              <a:t>www.chromaticlabs.co</a:t>
            </a:r>
            <a:endParaRPr/>
          </a:p>
        </p:txBody>
      </p:sp>
      <p:sp>
        <p:nvSpPr>
          <p:cNvPr id="320" name="Google Shape;320;p25"/>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1D1D1F"/>
                </a:solidFill>
                <a:latin typeface="Arial"/>
                <a:ea typeface="Arial"/>
                <a:cs typeface="Arial"/>
                <a:sym typeface="Arial"/>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